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3035" r:id="rId3"/>
    <p:sldId id="3057" r:id="rId4"/>
    <p:sldId id="3048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8Wh1VcKCRdV0gd0h5T7gADmHS1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3D8F60-89CF-C763-75A8-554E7EBF102B}" name="Sujatha Kannan" initials="SK" userId="S::skannan3@jh.edu::dacea6f2-724f-4329-a43a-adbfdf5728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39" d="100"/>
          <a:sy n="139" d="100"/>
        </p:scale>
        <p:origin x="1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customschemas.google.com/relationships/presentationmetadata" Target="metadata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the mecp2 bird model that we are using!</a:t>
            </a:r>
          </a:p>
          <a:p>
            <a:endParaRPr lang="en-US" dirty="0"/>
          </a:p>
          <a:p>
            <a:r>
              <a:rPr lang="en-US" dirty="0"/>
              <a:t>We have KO and Het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30D25-6A8E-1743-AF38-5871620DF3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7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"/>
          <p:cNvSpPr txBox="1">
            <a:spLocks noGrp="1"/>
          </p:cNvSpPr>
          <p:nvPr>
            <p:ph type="title"/>
          </p:nvPr>
        </p:nvSpPr>
        <p:spPr>
          <a:xfrm>
            <a:off x="628650" y="1890110"/>
            <a:ext cx="78867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body" idx="1"/>
          </p:nvPr>
        </p:nvSpPr>
        <p:spPr>
          <a:xfrm>
            <a:off x="1220390" y="2756303"/>
            <a:ext cx="6703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body" idx="1"/>
          </p:nvPr>
        </p:nvSpPr>
        <p:spPr>
          <a:xfrm>
            <a:off x="889232" y="1209805"/>
            <a:ext cx="72063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3738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889233" y="451230"/>
            <a:ext cx="72063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300" b="1" i="0" u="none" strike="noStrike" cap="none">
                <a:solidFill>
                  <a:srgbClr val="3738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628650" y="1890110"/>
            <a:ext cx="78867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endParaRPr>
              <a:solidFill>
                <a:srgbClr val="373852"/>
              </a:solidFill>
            </a:endParaRPr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1220390" y="2756303"/>
            <a:ext cx="6703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>
              <a:solidFill>
                <a:srgbClr val="37385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1C76-3331-A248-921C-BDCC9862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5849"/>
            <a:ext cx="91440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dirty="0">
                <a:solidFill>
                  <a:srgbClr val="202354"/>
                </a:solidFill>
                <a:latin typeface="Open Sauce Medium"/>
                <a:ea typeface="+mn-ea"/>
                <a:cs typeface="Segoe UI Semibold"/>
              </a:rPr>
              <a:t>Pilocarpine model of refractory </a:t>
            </a:r>
            <a:r>
              <a:rPr lang="en-US" sz="2200" i="1" dirty="0">
                <a:solidFill>
                  <a:srgbClr val="202354"/>
                </a:solidFill>
                <a:latin typeface="Open Sauce Medium"/>
                <a:ea typeface="+mn-ea"/>
                <a:cs typeface="Segoe UI Semibold"/>
              </a:rPr>
              <a:t>status epilepticus</a:t>
            </a:r>
            <a:br>
              <a:rPr lang="en-US" sz="2200" dirty="0">
                <a:latin typeface="Open Sauce Medium" panose="020B0604020202020204" charset="0"/>
                <a:ea typeface="+mn-ea"/>
                <a:cs typeface="Segoe UI Semibold" panose="020B0702040204020203" pitchFamily="34" charset="0"/>
              </a:rPr>
            </a:br>
            <a:endParaRPr lang="en-US" sz="2700" dirty="0">
              <a:solidFill>
                <a:srgbClr val="202354"/>
              </a:solidFill>
              <a:latin typeface="Open Sauce Medium" panose="020B060402020202020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306899F2-DF06-E822-8B77-E17B49ECB4FB}"/>
              </a:ext>
            </a:extLst>
          </p:cNvPr>
          <p:cNvSpPr/>
          <p:nvPr/>
        </p:nvSpPr>
        <p:spPr>
          <a:xfrm>
            <a:off x="658940" y="1089414"/>
            <a:ext cx="7826120" cy="2964672"/>
          </a:xfrm>
          <a:custGeom>
            <a:avLst/>
            <a:gdLst/>
            <a:ahLst/>
            <a:cxnLst/>
            <a:rect l="l" t="t" r="r" b="b"/>
            <a:pathLst>
              <a:path w="4064900" h="2006663">
                <a:moveTo>
                  <a:pt x="0" y="0"/>
                </a:moveTo>
                <a:lnTo>
                  <a:pt x="4064900" y="0"/>
                </a:lnTo>
                <a:lnTo>
                  <a:pt x="4064900" y="2006663"/>
                </a:lnTo>
                <a:lnTo>
                  <a:pt x="0" y="2006663"/>
                </a:lnTo>
                <a:close/>
              </a:path>
            </a:pathLst>
          </a:custGeom>
          <a:noFill/>
          <a:ln w="28575" cap="sq">
            <a:solidFill>
              <a:srgbClr val="202354"/>
            </a:solidFill>
            <a:miter/>
          </a:ln>
        </p:spPr>
        <p:txBody>
          <a:bodyPr/>
          <a:lstStyle/>
          <a:p>
            <a:pPr defTabSz="457200">
              <a:buClrTx/>
              <a:defRPr/>
            </a:pPr>
            <a:endParaRPr lang="en-US" sz="900" kern="1200">
              <a:solidFill>
                <a:srgbClr val="FFFFFF"/>
              </a:solidFill>
              <a:latin typeface="Helvetica"/>
              <a:cs typeface="Helvetica"/>
            </a:endParaRPr>
          </a:p>
        </p:txBody>
      </p:sp>
      <p:pic>
        <p:nvPicPr>
          <p:cNvPr id="5" name="Picture 4" descr="A diagram of a mouse&#10;&#10;AI-generated content may be incorrect.">
            <a:extLst>
              <a:ext uri="{FF2B5EF4-FFF2-40B4-BE49-F238E27FC236}">
                <a16:creationId xmlns:a16="http://schemas.microsoft.com/office/drawing/2014/main" id="{F86D7B2F-72A9-9705-9274-58AA5AAE2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84" t="17387" r="10676" b="34435"/>
          <a:stretch>
            <a:fillRect/>
          </a:stretch>
        </p:blipFill>
        <p:spPr>
          <a:xfrm>
            <a:off x="1783080" y="1128799"/>
            <a:ext cx="6108192" cy="274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1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F299F-4090-BE74-7D6C-AA861D78846F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6D21BD8-D142-4F8C-952A-73C4648A96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7/2/25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1920E2-01CD-4DCC-AE4E-E4C55FDD4EA0}"/>
              </a:ext>
            </a:extLst>
          </p:cNvPr>
          <p:cNvSpPr txBox="1"/>
          <p:nvPr/>
        </p:nvSpPr>
        <p:spPr>
          <a:xfrm>
            <a:off x="225427" y="109394"/>
            <a:ext cx="8693146" cy="40780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en-US" sz="2200" dirty="0">
                <a:solidFill>
                  <a:srgbClr val="202354"/>
                </a:solidFill>
                <a:latin typeface="Open Sauce Medium"/>
                <a:cs typeface="Segoe UI Semibold"/>
              </a:rPr>
              <a:t>Acute GD-CBD administration reduces seizure duration and severity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F3520-5D91-D40C-2CFD-EC7FFB97873F}"/>
              </a:ext>
            </a:extLst>
          </p:cNvPr>
          <p:cNvSpPr txBox="1"/>
          <p:nvPr/>
        </p:nvSpPr>
        <p:spPr>
          <a:xfrm>
            <a:off x="702129" y="1112470"/>
            <a:ext cx="1205449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Open Sauce Medium" panose="020B0604020202020204" charset="0"/>
                <a:cs typeface="Segoe UI Semibold" panose="020B0702040204020203" pitchFamily="34" charset="0"/>
              </a:rPr>
              <a:t>% total duration seizing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53473-1BD0-40F7-9FD6-166E600ED1E5}"/>
              </a:ext>
            </a:extLst>
          </p:cNvPr>
          <p:cNvSpPr txBox="1"/>
          <p:nvPr/>
        </p:nvSpPr>
        <p:spPr>
          <a:xfrm>
            <a:off x="6877689" y="1594272"/>
            <a:ext cx="188323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Open Sauce Medium" panose="020B0604020202020204" charset="0"/>
                <a:cs typeface="Segoe UI Semibold" panose="020B0702040204020203" pitchFamily="34" charset="0"/>
              </a:rPr>
              <a:t>Seizure duration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9F5627-0849-4EE2-8B00-4787664DE205}"/>
              </a:ext>
            </a:extLst>
          </p:cNvPr>
          <p:cNvSpPr/>
          <p:nvPr/>
        </p:nvSpPr>
        <p:spPr bwMode="auto">
          <a:xfrm rot="5400000">
            <a:off x="6543612" y="1682052"/>
            <a:ext cx="314709" cy="85131"/>
          </a:xfrm>
          <a:prstGeom prst="right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342900" eaLnBrk="0" fontAlgn="base" hangingPunct="0">
              <a:spcBef>
                <a:spcPct val="0"/>
              </a:spcBef>
              <a:spcAft>
                <a:spcPct val="0"/>
              </a:spcAft>
              <a:buSzPct val="100000"/>
            </a:pPr>
            <a:endParaRPr lang="en-US" sz="7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9B967-CF69-4078-AA5C-32B3181CBC24}"/>
              </a:ext>
            </a:extLst>
          </p:cNvPr>
          <p:cNvSpPr txBox="1"/>
          <p:nvPr/>
        </p:nvSpPr>
        <p:spPr>
          <a:xfrm>
            <a:off x="6901860" y="3286901"/>
            <a:ext cx="1883238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Open Sauce Medium" panose="020B0604020202020204" charset="0"/>
                <a:cs typeface="Segoe UI Semibold" panose="020B0702040204020203" pitchFamily="34" charset="0"/>
              </a:rPr>
              <a:t>Recovery from 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77A6AA1-7F8D-411B-A114-F6CDCCB9EB64}"/>
              </a:ext>
            </a:extLst>
          </p:cNvPr>
          <p:cNvSpPr/>
          <p:nvPr/>
        </p:nvSpPr>
        <p:spPr bwMode="auto">
          <a:xfrm rot="16200000">
            <a:off x="6586177" y="3411756"/>
            <a:ext cx="314709" cy="85131"/>
          </a:xfrm>
          <a:prstGeom prst="right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342900" eaLnBrk="0" fontAlgn="base" hangingPunct="0">
              <a:spcBef>
                <a:spcPct val="0"/>
              </a:spcBef>
              <a:spcAft>
                <a:spcPct val="0"/>
              </a:spcAft>
              <a:buSzPct val="100000"/>
            </a:pPr>
            <a:endParaRPr lang="en-US" sz="7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DF006-A4B9-7A1B-857E-3FCCC043B0BE}"/>
              </a:ext>
            </a:extLst>
          </p:cNvPr>
          <p:cNvSpPr txBox="1"/>
          <p:nvPr/>
        </p:nvSpPr>
        <p:spPr>
          <a:xfrm>
            <a:off x="4199205" y="1128681"/>
            <a:ext cx="1817547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Open Sauce Medium" panose="020B0604020202020204" charset="0"/>
                <a:cs typeface="Segoe UI Semibold" panose="020B0702040204020203" pitchFamily="34" charset="0"/>
              </a:rPr>
              <a:t>% Duration of Generalized seizures over time​</a:t>
            </a:r>
          </a:p>
        </p:txBody>
      </p:sp>
      <p:pic>
        <p:nvPicPr>
          <p:cNvPr id="19" name="Picture 18" descr="A graph of different types of seltzer&#10;&#10;AI-generated content may be incorrect.">
            <a:extLst>
              <a:ext uri="{FF2B5EF4-FFF2-40B4-BE49-F238E27FC236}">
                <a16:creationId xmlns:a16="http://schemas.microsoft.com/office/drawing/2014/main" id="{D99EC7D8-BFE1-22AE-30BD-BD2A6A35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" y="1705348"/>
            <a:ext cx="5911596" cy="25180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DB0D4A-43C6-E4B4-46BF-B27099483A06}"/>
              </a:ext>
            </a:extLst>
          </p:cNvPr>
          <p:cNvSpPr txBox="1"/>
          <p:nvPr/>
        </p:nvSpPr>
        <p:spPr>
          <a:xfrm>
            <a:off x="2065605" y="1098665"/>
            <a:ext cx="1817547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Open Sauce Medium" panose="020B0604020202020204" charset="0"/>
                <a:cs typeface="Segoe UI Semibold" panose="020B0702040204020203" pitchFamily="34" charset="0"/>
              </a:rPr>
              <a:t>% Duration of </a:t>
            </a:r>
          </a:p>
          <a:p>
            <a:pPr algn="ctr"/>
            <a:r>
              <a:rPr lang="en-US" sz="1200" dirty="0">
                <a:latin typeface="Open Sauce Medium" panose="020B0604020202020204" charset="0"/>
                <a:cs typeface="Segoe UI Semibold" panose="020B0702040204020203" pitchFamily="34" charset="0"/>
              </a:rPr>
              <a:t>Generalized seizures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679EE9-E576-BC8A-F7EA-DFC533458348}"/>
              </a:ext>
            </a:extLst>
          </p:cNvPr>
          <p:cNvSpPr txBox="1"/>
          <p:nvPr/>
        </p:nvSpPr>
        <p:spPr>
          <a:xfrm>
            <a:off x="6877689" y="2266852"/>
            <a:ext cx="1883238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Duration and episodes of generalized seizures</a:t>
            </a:r>
          </a:p>
        </p:txBody>
      </p:sp>
      <p:sp>
        <p:nvSpPr>
          <p:cNvPr id="24" name="Arrow: Right 9">
            <a:extLst>
              <a:ext uri="{FF2B5EF4-FFF2-40B4-BE49-F238E27FC236}">
                <a16:creationId xmlns:a16="http://schemas.microsoft.com/office/drawing/2014/main" id="{E27138B6-C8DE-34C4-CB24-65C80CA67EAE}"/>
              </a:ext>
            </a:extLst>
          </p:cNvPr>
          <p:cNvSpPr/>
          <p:nvPr/>
        </p:nvSpPr>
        <p:spPr bwMode="auto">
          <a:xfrm rot="5400000">
            <a:off x="6543612" y="2593618"/>
            <a:ext cx="314709" cy="85131"/>
          </a:xfrm>
          <a:prstGeom prst="right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342900" eaLnBrk="0" fontAlgn="base" hangingPunct="0">
              <a:spcBef>
                <a:spcPct val="0"/>
              </a:spcBef>
              <a:spcAft>
                <a:spcPct val="0"/>
              </a:spcAft>
              <a:buSzPct val="100000"/>
            </a:pPr>
            <a:endParaRPr lang="en-US" sz="700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35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A67A-139B-4EC0-A10E-EB631564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7" y="105953"/>
            <a:ext cx="8965785" cy="994173"/>
          </a:xfrm>
        </p:spPr>
        <p:txBody>
          <a:bodyPr/>
          <a:lstStyle/>
          <a:p>
            <a:r>
              <a:rPr lang="en-US" sz="2200" dirty="0">
                <a:solidFill>
                  <a:srgbClr val="202354"/>
                </a:solidFill>
                <a:latin typeface="Open Sauce Medium"/>
                <a:ea typeface="+mn-ea"/>
                <a:cs typeface="Segoe UI Semibold"/>
              </a:rPr>
              <a:t>GD-CBD improves survival and reduce seizure severity post-SE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C6C9B-FCA8-4B2D-9E2E-7CB27A62B02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6D21BD8-D142-4F8C-952A-73C4648A96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7/2/25</a:t>
            </a:fld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81823E-6B55-F68A-C2CE-AF7F206E8C07}"/>
              </a:ext>
            </a:extLst>
          </p:cNvPr>
          <p:cNvSpPr txBox="1"/>
          <p:nvPr/>
        </p:nvSpPr>
        <p:spPr>
          <a:xfrm>
            <a:off x="639006" y="672630"/>
            <a:ext cx="167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Open Sauce Medium" panose="020B0604020202020204" charset="0"/>
                <a:cs typeface="Segoe UI Semibold" panose="020B0702040204020203" pitchFamily="34" charset="0"/>
              </a:rPr>
              <a:t>% Survival 48 hours post-SE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4A6558-D7F3-79B2-C744-9986B72909C7}"/>
              </a:ext>
            </a:extLst>
          </p:cNvPr>
          <p:cNvSpPr txBox="1"/>
          <p:nvPr/>
        </p:nvSpPr>
        <p:spPr>
          <a:xfrm>
            <a:off x="2493385" y="3824989"/>
            <a:ext cx="1371789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Open Sauce Medium" panose="020B0604020202020204" charset="0"/>
                <a:cs typeface="Segoe UI Semibold" panose="020B0702040204020203" pitchFamily="34" charset="0"/>
              </a:rPr>
              <a:t>Survival post-SE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DAB792-D150-4621-833F-72B3F5D3285B}"/>
              </a:ext>
            </a:extLst>
          </p:cNvPr>
          <p:cNvSpPr txBox="1"/>
          <p:nvPr/>
        </p:nvSpPr>
        <p:spPr>
          <a:xfrm>
            <a:off x="2884536" y="674643"/>
            <a:ext cx="1863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Open Sauce Medium" panose="020B0604020202020204" charset="0"/>
                <a:cs typeface="Segoe UI Semibold" panose="020B0702040204020203" pitchFamily="34" charset="0"/>
              </a:rPr>
              <a:t>Survival proportions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9A1FC9-634B-4DBF-B9DF-4FC81A63A07B}"/>
              </a:ext>
            </a:extLst>
          </p:cNvPr>
          <p:cNvSpPr txBox="1"/>
          <p:nvPr/>
        </p:nvSpPr>
        <p:spPr>
          <a:xfrm>
            <a:off x="5035897" y="663660"/>
            <a:ext cx="1820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Open Sauce Medium" panose="020B0604020202020204" charset="0"/>
                <a:cs typeface="Segoe UI Semibold" panose="020B0702040204020203" pitchFamily="34" charset="0"/>
              </a:rPr>
              <a:t>% Duration of seizure stages (stacked)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6AF3C-CA79-415D-B2B1-57D89F2DBC2E}"/>
              </a:ext>
            </a:extLst>
          </p:cNvPr>
          <p:cNvSpPr txBox="1"/>
          <p:nvPr/>
        </p:nvSpPr>
        <p:spPr>
          <a:xfrm>
            <a:off x="5946092" y="3844572"/>
            <a:ext cx="1371789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Open Sauce Medium" panose="020B0604020202020204" charset="0"/>
                <a:cs typeface="Segoe UI Semibold" panose="020B0702040204020203" pitchFamily="34" charset="0"/>
              </a:rPr>
              <a:t>Seizure severity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132FB5E-0E7A-4231-A12D-654B2A80DB9F}"/>
              </a:ext>
            </a:extLst>
          </p:cNvPr>
          <p:cNvSpPr/>
          <p:nvPr/>
        </p:nvSpPr>
        <p:spPr bwMode="auto">
          <a:xfrm rot="5400000">
            <a:off x="5553983" y="3959361"/>
            <a:ext cx="314709" cy="85131"/>
          </a:xfrm>
          <a:prstGeom prst="right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342900" eaLnBrk="0" fontAlgn="base" hangingPunct="0">
              <a:spcBef>
                <a:spcPct val="0"/>
              </a:spcBef>
              <a:spcAft>
                <a:spcPct val="0"/>
              </a:spcAft>
              <a:buSzPct val="100000"/>
            </a:pPr>
            <a:endParaRPr lang="en-US" sz="7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2216CF9-D0E0-4F50-8125-CE54382775BC}"/>
              </a:ext>
            </a:extLst>
          </p:cNvPr>
          <p:cNvSpPr/>
          <p:nvPr/>
        </p:nvSpPr>
        <p:spPr bwMode="auto">
          <a:xfrm rot="16200000">
            <a:off x="2084141" y="3921754"/>
            <a:ext cx="314709" cy="85131"/>
          </a:xfrm>
          <a:prstGeom prst="right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342900" eaLnBrk="0" fontAlgn="base" hangingPunct="0">
              <a:spcBef>
                <a:spcPct val="0"/>
              </a:spcBef>
              <a:spcAft>
                <a:spcPct val="0"/>
              </a:spcAft>
              <a:buSzPct val="100000"/>
            </a:pPr>
            <a:endParaRPr lang="en-US" sz="7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A5741-A699-BB6F-C6E5-5D1880F76EE2}"/>
              </a:ext>
            </a:extLst>
          </p:cNvPr>
          <p:cNvSpPr txBox="1"/>
          <p:nvPr/>
        </p:nvSpPr>
        <p:spPr>
          <a:xfrm>
            <a:off x="6890170" y="701573"/>
            <a:ext cx="1946098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Open Sauce Medium" panose="020B0604020202020204" charset="0"/>
                <a:cs typeface="Segoe UI Semibold" panose="020B0702040204020203" pitchFamily="34" charset="0"/>
              </a:rPr>
              <a:t>% Duration stage 6</a:t>
            </a:r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C2698A0-E741-CCEF-C44F-38FA59A88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78" y="1303850"/>
            <a:ext cx="7772400" cy="258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0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92</Words>
  <Application>Microsoft Macintosh PowerPoint</Application>
  <PresentationFormat>On-screen Show (16:9)</PresentationFormat>
  <Paragraphs>22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Helvetica</vt:lpstr>
      <vt:lpstr>Open Sauce Medium</vt:lpstr>
      <vt:lpstr>Office Theme</vt:lpstr>
      <vt:lpstr>PowerPoint Presentation</vt:lpstr>
      <vt:lpstr>Pilocarpine model of refractory status epilepticus </vt:lpstr>
      <vt:lpstr>PowerPoint Presentation</vt:lpstr>
      <vt:lpstr>GD-CBD improves survival and reduce seizure severity post-SE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Tara Locantore</dc:creator>
  <cp:lastModifiedBy>Preeti Vyas</cp:lastModifiedBy>
  <cp:revision>2</cp:revision>
  <dcterms:created xsi:type="dcterms:W3CDTF">2024-03-20T17:33:45Z</dcterms:created>
  <dcterms:modified xsi:type="dcterms:W3CDTF">2025-07-02T21:04:10Z</dcterms:modified>
</cp:coreProperties>
</file>